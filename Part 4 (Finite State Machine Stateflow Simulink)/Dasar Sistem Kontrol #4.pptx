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278" r:id="rId5"/>
    <p:sldId id="279" r:id="rId6"/>
    <p:sldId id="282" r:id="rId7"/>
    <p:sldId id="306" r:id="rId8"/>
    <p:sldId id="307" r:id="rId9"/>
    <p:sldId id="308" r:id="rId10"/>
    <p:sldId id="309" r:id="rId11"/>
    <p:sldId id="298" r:id="rId12"/>
    <p:sldId id="299" r:id="rId13"/>
    <p:sldId id="300" r:id="rId14"/>
    <p:sldId id="301" r:id="rId15"/>
    <p:sldId id="302" r:id="rId16"/>
    <p:sldId id="303" r:id="rId17"/>
    <p:sldId id="305" r:id="rId18"/>
    <p:sldId id="304" r:id="rId19"/>
    <p:sldId id="28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6DE88F-1F85-4A27-9D34-D74A50E7B0D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970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9842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Dasar </a:t>
            </a:r>
            <a:r>
              <a:rPr lang="en-US" sz="4000" dirty="0" err="1"/>
              <a:t>Sistem</a:t>
            </a:r>
            <a:r>
              <a:rPr lang="en-US" sz="4000" dirty="0"/>
              <a:t> </a:t>
            </a:r>
            <a:r>
              <a:rPr lang="en-US" sz="4000" dirty="0" err="1"/>
              <a:t>Kontrol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#4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E972DF-084C-0A0C-5A2C-2E8913A78D50}"/>
              </a:ext>
            </a:extLst>
          </p:cNvPr>
          <p:cNvSpPr/>
          <p:nvPr/>
        </p:nvSpPr>
        <p:spPr>
          <a:xfrm>
            <a:off x="1406013" y="3429000"/>
            <a:ext cx="4562168" cy="202289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Finite State Machine </a:t>
            </a:r>
            <a:r>
              <a:rPr lang="en-US" sz="3200" dirty="0" err="1">
                <a:solidFill>
                  <a:schemeClr val="tx2"/>
                </a:solidFill>
              </a:rPr>
              <a:t>Stateflow</a:t>
            </a:r>
            <a:r>
              <a:rPr lang="en-US" sz="3200" dirty="0">
                <a:solidFill>
                  <a:schemeClr val="tx2"/>
                </a:solidFill>
              </a:rPr>
              <a:t> Simulink</a:t>
            </a:r>
            <a:endParaRPr lang="en-ID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ALUR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2" y="1732449"/>
            <a:ext cx="4538123" cy="4727345"/>
          </a:xfrm>
        </p:spPr>
        <p:txBody>
          <a:bodyPr anchor="t">
            <a:normAutofit/>
          </a:bodyPr>
          <a:lstStyle/>
          <a:p>
            <a:pPr lvl="0">
              <a:buFontTx/>
              <a:buChar char="-"/>
            </a:pPr>
            <a:r>
              <a:rPr lang="en-ID" sz="2400" dirty="0">
                <a:effectLst/>
              </a:rPr>
              <a:t>Apa </a:t>
            </a:r>
            <a:r>
              <a:rPr lang="en-ID" sz="2400" dirty="0" err="1">
                <a:effectLst/>
              </a:rPr>
              <a:t>itu</a:t>
            </a:r>
            <a:r>
              <a:rPr lang="en-ID" sz="2400" dirty="0">
                <a:effectLst/>
              </a:rPr>
              <a:t> State Machine &amp; FSM</a:t>
            </a:r>
          </a:p>
          <a:p>
            <a:pPr lvl="0">
              <a:buFontTx/>
              <a:buChar char="-"/>
            </a:pPr>
            <a:r>
              <a:rPr lang="en-US" sz="2400" dirty="0" err="1"/>
              <a:t>Komponen</a:t>
            </a:r>
            <a:r>
              <a:rPr lang="en-US" sz="2400" dirty="0"/>
              <a:t> Utama: State, Event, Transition, Action</a:t>
            </a:r>
            <a:endParaRPr lang="es-ES" sz="2400" dirty="0"/>
          </a:p>
          <a:p>
            <a:pPr lvl="0">
              <a:buFontTx/>
              <a:buChar char="-"/>
            </a:pPr>
            <a:r>
              <a:rPr lang="en-US" sz="2400" dirty="0"/>
              <a:t>State Flow MP3 Player</a:t>
            </a:r>
          </a:p>
          <a:p>
            <a:pPr lvl="0">
              <a:buFontTx/>
              <a:buChar char="-"/>
            </a:pPr>
            <a:r>
              <a:rPr lang="en-ID" sz="2400" dirty="0">
                <a:effectLst/>
              </a:rPr>
              <a:t>State Flow Traffic Light</a:t>
            </a:r>
          </a:p>
          <a:p>
            <a:pPr lvl="0">
              <a:buFontTx/>
              <a:buChar char="-"/>
            </a:pPr>
            <a:r>
              <a:rPr lang="en-US" sz="2400" dirty="0"/>
              <a:t>State Flow Turning Signal</a:t>
            </a:r>
          </a:p>
          <a:p>
            <a:pPr lvl="0">
              <a:buFontTx/>
              <a:buChar char="-"/>
            </a:pPr>
            <a:r>
              <a:rPr lang="en-US" sz="2400" dirty="0"/>
              <a:t>State Action (Entry, During, Exit)</a:t>
            </a:r>
          </a:p>
          <a:p>
            <a:pPr lvl="0">
              <a:buFontTx/>
              <a:buChar char="-"/>
            </a:pPr>
            <a:r>
              <a:rPr lang="en-US" sz="2400" dirty="0">
                <a:effectLst/>
              </a:rPr>
              <a:t>Cara Pakai &amp; Integrasi Simulink</a:t>
            </a:r>
            <a:endParaRPr lang="en-ID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285-62C0-C1EB-AE79-9D7D21C3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51" y="609600"/>
            <a:ext cx="4847607" cy="1257300"/>
          </a:xfrm>
        </p:spPr>
        <p:txBody>
          <a:bodyPr>
            <a:normAutofit/>
          </a:bodyPr>
          <a:lstStyle/>
          <a:p>
            <a:r>
              <a:rPr lang="en-US" sz="4000" dirty="0"/>
              <a:t>State Machine &amp; FSM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533BA-6ADE-C802-9E6B-6A2E05DA4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451" y="2076450"/>
            <a:ext cx="4847607" cy="3714749"/>
          </a:xfrm>
        </p:spPr>
        <p:txBody>
          <a:bodyPr>
            <a:normAutofit/>
          </a:bodyPr>
          <a:lstStyle/>
          <a:p>
            <a:r>
              <a:rPr lang="en-US" sz="2400" dirty="0"/>
              <a:t>State Machine = </a:t>
            </a:r>
            <a:r>
              <a:rPr lang="en-US" sz="2400" dirty="0" err="1"/>
              <a:t>perilaku</a:t>
            </a:r>
            <a:r>
              <a:rPr lang="en-US" sz="2400" dirty="0"/>
              <a:t> di mana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selalu</a:t>
            </a:r>
            <a:r>
              <a:rPr lang="en-US" sz="2400" dirty="0"/>
              <a:t> </a:t>
            </a:r>
            <a:r>
              <a:rPr lang="en-US" sz="2400" dirty="0" err="1"/>
              <a:t>berada</a:t>
            </a:r>
            <a:r>
              <a:rPr lang="en-US" sz="2400" dirty="0"/>
              <a:t> pada </a:t>
            </a:r>
            <a:r>
              <a:rPr lang="en-US" sz="2400" dirty="0" err="1"/>
              <a:t>satu</a:t>
            </a:r>
            <a:r>
              <a:rPr lang="en-US" sz="2400" dirty="0"/>
              <a:t> state pada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waktu</a:t>
            </a:r>
            <a:r>
              <a:rPr lang="en-US" sz="2400" dirty="0"/>
              <a:t> dan </a:t>
            </a:r>
            <a:r>
              <a:rPr lang="en-US" sz="2400" dirty="0" err="1"/>
              <a:t>berganti</a:t>
            </a:r>
            <a:r>
              <a:rPr lang="en-US" sz="2400" dirty="0"/>
              <a:t>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adanya</a:t>
            </a:r>
            <a:r>
              <a:rPr lang="en-US" sz="2400" dirty="0"/>
              <a:t> input.</a:t>
            </a:r>
          </a:p>
          <a:p>
            <a:r>
              <a:rPr lang="en-US" sz="2400" dirty="0"/>
              <a:t>Finite State Machine (FSM) = state machine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state </a:t>
            </a:r>
            <a:r>
              <a:rPr lang="en-US" sz="2400" dirty="0" err="1"/>
              <a:t>terbatas</a:t>
            </a:r>
            <a:r>
              <a:rPr lang="en-US" sz="2400" dirty="0"/>
              <a:t>.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B71B7-79C7-6CAA-E66A-984286A9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11">
            <a:extLst>
              <a:ext uri="{FF2B5EF4-FFF2-40B4-BE49-F238E27FC236}">
                <a16:creationId xmlns:a16="http://schemas.microsoft.com/office/drawing/2014/main" id="{4BBE21DD-C506-7C72-6B11-7FCA97ED5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4494"/>
            <a:ext cx="12196109" cy="482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7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5DC7-D2CE-E164-E274-32495018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70ECD20C-E145-E105-264B-B1844D89F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66" y="0"/>
            <a:ext cx="104076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52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51B3-E267-362B-DC03-7C18EF25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3A06D13D-7ED7-9B12-2CCA-65CFE99FD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9" y="0"/>
            <a:ext cx="12034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97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1FCEC-51D0-4B84-735C-3C2C6A10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1835F6A5-5293-A323-FD7F-FAFB07DF6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213" y="0"/>
            <a:ext cx="9213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94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73C2-5152-BE71-FAF2-CC3355015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Komponen</a:t>
            </a:r>
            <a:r>
              <a:rPr lang="en-US" dirty="0"/>
              <a:t> Utama State Machine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DD5CF-FE88-6FC5-5A4B-62332231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2800" b="1" dirty="0"/>
              <a:t>State</a:t>
            </a:r>
            <a:r>
              <a:rPr lang="en-ID" sz="2800" dirty="0"/>
              <a:t>: </a:t>
            </a:r>
            <a:r>
              <a:rPr lang="en-ID" sz="2800" dirty="0" err="1"/>
              <a:t>keadaan</a:t>
            </a:r>
            <a:r>
              <a:rPr lang="en-ID" sz="2800" dirty="0"/>
              <a:t> </a:t>
            </a:r>
            <a:r>
              <a:rPr lang="en-ID" sz="2800" dirty="0" err="1"/>
              <a:t>sistem</a:t>
            </a:r>
            <a:r>
              <a:rPr lang="en-ID" sz="2800" dirty="0"/>
              <a:t> (mis. Playing, Paused).</a:t>
            </a:r>
          </a:p>
          <a:p>
            <a:r>
              <a:rPr lang="en-ID" sz="2800" b="1" dirty="0"/>
              <a:t>Event / Input</a:t>
            </a:r>
            <a:r>
              <a:rPr lang="en-ID" sz="2800" dirty="0"/>
              <a:t>: </a:t>
            </a:r>
            <a:r>
              <a:rPr lang="en-ID" sz="2800" dirty="0" err="1"/>
              <a:t>pemicu</a:t>
            </a:r>
            <a:r>
              <a:rPr lang="en-ID" sz="2800" dirty="0"/>
              <a:t> </a:t>
            </a:r>
            <a:r>
              <a:rPr lang="en-ID" sz="2800" dirty="0" err="1"/>
              <a:t>transisi</a:t>
            </a:r>
            <a:r>
              <a:rPr lang="en-ID" sz="2800" dirty="0"/>
              <a:t> (mis. </a:t>
            </a:r>
            <a:r>
              <a:rPr lang="en-ID" sz="2800" dirty="0" err="1"/>
              <a:t>tombol</a:t>
            </a:r>
            <a:r>
              <a:rPr lang="en-ID" sz="2800" dirty="0"/>
              <a:t> </a:t>
            </a:r>
            <a:r>
              <a:rPr lang="en-ID" sz="2800" dirty="0" err="1"/>
              <a:t>ditekan</a:t>
            </a:r>
            <a:r>
              <a:rPr lang="en-ID" sz="2800" dirty="0"/>
              <a:t>, </a:t>
            </a:r>
            <a:r>
              <a:rPr lang="en-ID" sz="2800" dirty="0" err="1"/>
              <a:t>sinyal</a:t>
            </a:r>
            <a:r>
              <a:rPr lang="en-ID" sz="2800" dirty="0"/>
              <a:t> sensor).</a:t>
            </a:r>
          </a:p>
          <a:p>
            <a:r>
              <a:rPr lang="en-ID" sz="2800" b="1" dirty="0"/>
              <a:t>Transition</a:t>
            </a:r>
            <a:r>
              <a:rPr lang="en-ID" sz="2800" dirty="0"/>
              <a:t>: </a:t>
            </a:r>
            <a:r>
              <a:rPr lang="en-ID" sz="2800" dirty="0" err="1"/>
              <a:t>aturan</a:t>
            </a:r>
            <a:r>
              <a:rPr lang="en-ID" sz="2800" dirty="0"/>
              <a:t> </a:t>
            </a:r>
            <a:r>
              <a:rPr lang="en-ID" sz="2800" dirty="0" err="1"/>
              <a:t>perpindahan</a:t>
            </a:r>
            <a:r>
              <a:rPr lang="en-ID" sz="2800" dirty="0"/>
              <a:t> </a:t>
            </a:r>
            <a:r>
              <a:rPr lang="en-ID" sz="2800" dirty="0" err="1"/>
              <a:t>dari</a:t>
            </a:r>
            <a:r>
              <a:rPr lang="en-ID" sz="2800" dirty="0"/>
              <a:t> </a:t>
            </a:r>
            <a:r>
              <a:rPr lang="en-ID" sz="2800" dirty="0" err="1"/>
              <a:t>satu</a:t>
            </a:r>
            <a:r>
              <a:rPr lang="en-ID" sz="2800" dirty="0"/>
              <a:t> state </a:t>
            </a:r>
            <a:r>
              <a:rPr lang="en-ID" sz="2800" dirty="0" err="1"/>
              <a:t>ke</a:t>
            </a:r>
            <a:r>
              <a:rPr lang="en-ID" sz="2800" dirty="0"/>
              <a:t> state lain, </a:t>
            </a:r>
            <a:r>
              <a:rPr lang="en-ID" sz="2800" dirty="0" err="1"/>
              <a:t>bisa</a:t>
            </a:r>
            <a:r>
              <a:rPr lang="en-ID" sz="2800" dirty="0"/>
              <a:t> </a:t>
            </a:r>
            <a:r>
              <a:rPr lang="en-ID" sz="2800" dirty="0" err="1"/>
              <a:t>memiliki</a:t>
            </a:r>
            <a:r>
              <a:rPr lang="en-ID" sz="2800" dirty="0"/>
              <a:t> guard/</a:t>
            </a:r>
            <a:r>
              <a:rPr lang="en-ID" sz="2800" dirty="0" err="1"/>
              <a:t>cond</a:t>
            </a:r>
            <a:r>
              <a:rPr lang="en-ID" sz="2800" dirty="0"/>
              <a:t> (</a:t>
            </a:r>
            <a:r>
              <a:rPr lang="en-ID" sz="2800" dirty="0" err="1"/>
              <a:t>syarat</a:t>
            </a:r>
            <a:r>
              <a:rPr lang="en-ID" sz="2800" dirty="0"/>
              <a:t> </a:t>
            </a:r>
            <a:r>
              <a:rPr lang="en-ID" sz="2800" dirty="0" err="1"/>
              <a:t>boolean</a:t>
            </a:r>
            <a:r>
              <a:rPr lang="en-ID" sz="2800" dirty="0"/>
              <a:t>).</a:t>
            </a:r>
          </a:p>
          <a:p>
            <a:r>
              <a:rPr lang="en-ID" sz="2800" b="1" dirty="0"/>
              <a:t>Action</a:t>
            </a:r>
            <a:r>
              <a:rPr lang="en-ID" sz="2800" dirty="0"/>
              <a:t>: </a:t>
            </a:r>
            <a:r>
              <a:rPr lang="en-ID" sz="2800" dirty="0" err="1"/>
              <a:t>efek</a:t>
            </a:r>
            <a:r>
              <a:rPr lang="en-ID" sz="2800" dirty="0"/>
              <a:t> </a:t>
            </a:r>
            <a:r>
              <a:rPr lang="en-ID" sz="2800" dirty="0" err="1"/>
              <a:t>samping</a:t>
            </a:r>
            <a:r>
              <a:rPr lang="en-ID" sz="2800" dirty="0"/>
              <a:t>/</a:t>
            </a:r>
            <a:r>
              <a:rPr lang="en-ID" sz="2800" dirty="0" err="1"/>
              <a:t>aksi</a:t>
            </a:r>
            <a:r>
              <a:rPr lang="en-ID" sz="2800" dirty="0"/>
              <a:t> yang </a:t>
            </a:r>
            <a:r>
              <a:rPr lang="en-ID" sz="2800" dirty="0" err="1"/>
              <a:t>dijalankan</a:t>
            </a:r>
            <a:r>
              <a:rPr lang="en-ID" sz="2800" dirty="0"/>
              <a:t> </a:t>
            </a:r>
            <a:r>
              <a:rPr lang="en-ID" sz="2800" dirty="0" err="1"/>
              <a:t>saat</a:t>
            </a:r>
            <a:r>
              <a:rPr lang="en-ID" sz="2800" dirty="0"/>
              <a:t> </a:t>
            </a:r>
            <a:r>
              <a:rPr lang="en-ID" sz="2800" dirty="0" err="1"/>
              <a:t>transisi</a:t>
            </a:r>
            <a:r>
              <a:rPr lang="en-ID" sz="2800" dirty="0"/>
              <a:t> (</a:t>
            </a:r>
            <a:r>
              <a:rPr lang="en-ID" sz="2800" dirty="0" err="1"/>
              <a:t>atau</a:t>
            </a:r>
            <a:r>
              <a:rPr lang="en-ID" sz="2800" dirty="0"/>
              <a:t> </a:t>
            </a:r>
            <a:r>
              <a:rPr lang="en-ID" sz="2800" dirty="0" err="1"/>
              <a:t>saat</a:t>
            </a:r>
            <a:r>
              <a:rPr lang="en-ID" sz="2800" dirty="0"/>
              <a:t> state entry/during/exit).</a:t>
            </a:r>
          </a:p>
        </p:txBody>
      </p:sp>
    </p:spTree>
    <p:extLst>
      <p:ext uri="{BB962C8B-B14F-4D97-AF65-F5344CB8AC3E}">
        <p14:creationId xmlns:p14="http://schemas.microsoft.com/office/powerpoint/2010/main" val="649203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418A-9886-A61C-60EF-13F1AA6D6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126540"/>
            <a:ext cx="10353762" cy="1257300"/>
          </a:xfrm>
        </p:spPr>
        <p:txBody>
          <a:bodyPr>
            <a:normAutofit/>
          </a:bodyPr>
          <a:lstStyle/>
          <a:p>
            <a:r>
              <a:rPr lang="en-ID" dirty="0"/>
              <a:t>State Flow MP3 Player</a:t>
            </a:r>
          </a:p>
        </p:txBody>
      </p:sp>
      <p:pic>
        <p:nvPicPr>
          <p:cNvPr id="5" name="Content Placeholder 16">
            <a:extLst>
              <a:ext uri="{FF2B5EF4-FFF2-40B4-BE49-F238E27FC236}">
                <a16:creationId xmlns:a16="http://schemas.microsoft.com/office/drawing/2014/main" id="{DC511938-88FE-464D-A090-0BAA48984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250" y="1383840"/>
            <a:ext cx="8763499" cy="534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7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20">
            <a:extLst>
              <a:ext uri="{FF2B5EF4-FFF2-40B4-BE49-F238E27FC236}">
                <a16:creationId xmlns:a16="http://schemas.microsoft.com/office/drawing/2014/main" id="{4E1C6E9F-C5FF-6138-476F-ADDE1CBEA129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390" y="442119"/>
            <a:ext cx="10073221" cy="597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019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54E50-9260-83D8-6013-963C25B80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4B08-FAE0-E785-7C1B-58D817BF2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126540"/>
            <a:ext cx="10353762" cy="1257300"/>
          </a:xfrm>
        </p:spPr>
        <p:txBody>
          <a:bodyPr>
            <a:normAutofit/>
          </a:bodyPr>
          <a:lstStyle/>
          <a:p>
            <a:r>
              <a:rPr lang="en-ID" dirty="0"/>
              <a:t>State Flow Traffic Light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0510E0F-AC4C-41A8-C163-EB4DB1025E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929" y="1356876"/>
            <a:ext cx="6246139" cy="537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1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221B6-4249-9A4D-3C88-0C46BA5E8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68CD5-0840-0452-922D-0FF96AC58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126540"/>
            <a:ext cx="10353762" cy="1257300"/>
          </a:xfrm>
        </p:spPr>
        <p:txBody>
          <a:bodyPr>
            <a:normAutofit/>
          </a:bodyPr>
          <a:lstStyle/>
          <a:p>
            <a:r>
              <a:rPr lang="en-ID" dirty="0"/>
              <a:t>State Flow Turning Signal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08164564-D263-9E37-9B9C-55C044B39A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458" y="1383840"/>
            <a:ext cx="8679082" cy="534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75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5B5C-A064-501A-8A18-87219670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3826-026F-A0E3-CE57-DEC9B98E8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38151"/>
            <a:ext cx="10353762" cy="1257300"/>
          </a:xfrm>
        </p:spPr>
        <p:txBody>
          <a:bodyPr>
            <a:normAutofit/>
          </a:bodyPr>
          <a:lstStyle/>
          <a:p>
            <a:r>
              <a:rPr lang="en-ID" dirty="0"/>
              <a:t>State Action (</a:t>
            </a:r>
            <a:r>
              <a:rPr lang="en-US" b="1" dirty="0"/>
              <a:t>Entry, During, Exit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111762-02EA-1106-3646-C7161C6E1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sz="3600" b="1" dirty="0"/>
              <a:t> Entry</a:t>
            </a:r>
            <a:r>
              <a:rPr lang="en-ID" sz="3600" dirty="0"/>
              <a:t>: </a:t>
            </a:r>
            <a:r>
              <a:rPr lang="en-ID" sz="3600" dirty="0" err="1"/>
              <a:t>dieksekusi</a:t>
            </a:r>
            <a:r>
              <a:rPr lang="en-ID" sz="3600" dirty="0"/>
              <a:t> </a:t>
            </a:r>
            <a:r>
              <a:rPr lang="en-ID" sz="3600" dirty="0" err="1"/>
              <a:t>saat</a:t>
            </a:r>
            <a:r>
              <a:rPr lang="en-ID" sz="3600" dirty="0"/>
              <a:t> </a:t>
            </a:r>
            <a:r>
              <a:rPr lang="en-ID" sz="3600" dirty="0" err="1"/>
              <a:t>masuk</a:t>
            </a:r>
            <a:r>
              <a:rPr lang="en-ID" sz="3600" dirty="0"/>
              <a:t> state.</a:t>
            </a:r>
          </a:p>
          <a:p>
            <a:r>
              <a:rPr lang="en-ID" sz="3600" b="1" dirty="0"/>
              <a:t> During</a:t>
            </a:r>
            <a:r>
              <a:rPr lang="en-ID" sz="3600" dirty="0"/>
              <a:t>: </a:t>
            </a:r>
            <a:r>
              <a:rPr lang="en-ID" sz="3600" dirty="0" err="1"/>
              <a:t>dieksekusi</a:t>
            </a:r>
            <a:r>
              <a:rPr lang="en-ID" sz="3600" dirty="0"/>
              <a:t> </a:t>
            </a:r>
            <a:r>
              <a:rPr lang="en-ID" sz="3600" dirty="0" err="1"/>
              <a:t>selama</a:t>
            </a:r>
            <a:r>
              <a:rPr lang="en-ID" sz="3600" dirty="0"/>
              <a:t> </a:t>
            </a:r>
            <a:r>
              <a:rPr lang="en-ID" sz="3600" dirty="0" err="1"/>
              <a:t>berada</a:t>
            </a:r>
            <a:r>
              <a:rPr lang="en-ID" sz="3600" dirty="0"/>
              <a:t> di state (</a:t>
            </a:r>
            <a:r>
              <a:rPr lang="en-ID" sz="3600" dirty="0" err="1"/>
              <a:t>tiap</a:t>
            </a:r>
            <a:r>
              <a:rPr lang="en-ID" sz="3600" dirty="0"/>
              <a:t> 	</a:t>
            </a:r>
            <a:r>
              <a:rPr lang="en-ID" sz="3600" dirty="0" err="1"/>
              <a:t>langkah</a:t>
            </a:r>
            <a:r>
              <a:rPr lang="en-ID" sz="3600" dirty="0"/>
              <a:t> </a:t>
            </a:r>
            <a:r>
              <a:rPr lang="en-ID" sz="3600" dirty="0" err="1"/>
              <a:t>waktu</a:t>
            </a:r>
            <a:r>
              <a:rPr lang="en-ID" sz="3600" dirty="0"/>
              <a:t>/major time step). </a:t>
            </a:r>
          </a:p>
          <a:p>
            <a:r>
              <a:rPr lang="en-ID" sz="3600" b="1" dirty="0"/>
              <a:t> Exit</a:t>
            </a:r>
            <a:r>
              <a:rPr lang="en-ID" sz="3600" dirty="0"/>
              <a:t>: </a:t>
            </a:r>
            <a:r>
              <a:rPr lang="en-ID" sz="3600" dirty="0" err="1"/>
              <a:t>dieksekusi</a:t>
            </a:r>
            <a:r>
              <a:rPr lang="en-ID" sz="3600" dirty="0"/>
              <a:t> </a:t>
            </a:r>
            <a:r>
              <a:rPr lang="en-ID" sz="3600" dirty="0" err="1"/>
              <a:t>tepat</a:t>
            </a:r>
            <a:r>
              <a:rPr lang="en-ID" sz="3600" dirty="0"/>
              <a:t> </a:t>
            </a:r>
            <a:r>
              <a:rPr lang="en-ID" sz="3600" dirty="0" err="1"/>
              <a:t>sebelum</a:t>
            </a:r>
            <a:r>
              <a:rPr lang="en-ID" sz="3600" dirty="0"/>
              <a:t> </a:t>
            </a:r>
            <a:r>
              <a:rPr lang="en-ID" sz="3600" dirty="0" err="1"/>
              <a:t>keluar</a:t>
            </a:r>
            <a:r>
              <a:rPr lang="en-ID" sz="3600" dirty="0"/>
              <a:t> state. </a:t>
            </a:r>
          </a:p>
        </p:txBody>
      </p:sp>
    </p:spTree>
    <p:extLst>
      <p:ext uri="{BB962C8B-B14F-4D97-AF65-F5344CB8AC3E}">
        <p14:creationId xmlns:p14="http://schemas.microsoft.com/office/powerpoint/2010/main" val="2159748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5252-C027-FBF9-C298-3C8EFE41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1EC5D-46CA-9717-02AD-8C72DF6A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90499"/>
            <a:ext cx="10353762" cy="1257300"/>
          </a:xfrm>
        </p:spPr>
        <p:txBody>
          <a:bodyPr>
            <a:normAutofit/>
          </a:bodyPr>
          <a:lstStyle/>
          <a:p>
            <a:r>
              <a:rPr lang="en-ID" dirty="0"/>
              <a:t>State Action (</a:t>
            </a:r>
            <a:r>
              <a:rPr lang="en-US" b="1" dirty="0"/>
              <a:t>Entry, During, Exit</a:t>
            </a:r>
            <a:r>
              <a:rPr lang="en-US" dirty="0"/>
              <a:t>)</a:t>
            </a:r>
            <a:endParaRPr lang="en-ID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281791CE-210E-2D97-295E-338C956C7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217" y="1447799"/>
            <a:ext cx="7595565" cy="521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94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7E33-D5E8-450D-6FE4-A8CC0475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387F-B1A8-937A-98BD-A4485786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126540"/>
            <a:ext cx="10353762" cy="1257300"/>
          </a:xfrm>
        </p:spPr>
        <p:txBody>
          <a:bodyPr>
            <a:normAutofit/>
          </a:bodyPr>
          <a:lstStyle/>
          <a:p>
            <a:r>
              <a:rPr lang="en-ID" dirty="0"/>
              <a:t>State Flow Integrasi </a:t>
            </a:r>
            <a:r>
              <a:rPr lang="en-ID" dirty="0" err="1"/>
              <a:t>dengan</a:t>
            </a:r>
            <a:r>
              <a:rPr lang="en-ID" dirty="0"/>
              <a:t> Simulink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91BA85FC-85D7-1F9C-B2EF-1819A49AE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877" y="1383840"/>
            <a:ext cx="9234244" cy="534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39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07912-0091-E11F-A2B4-4792B8DD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D7BD7-41A5-184B-6BC2-8412236CC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328B6B43-A84E-7039-ACDB-C1035C2AC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1CADB-B180-2071-EAB4-417486110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Terima</a:t>
            </a:r>
            <a:r>
              <a:rPr lang="en-US" sz="4000" dirty="0"/>
              <a:t> Kasih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B3FAE-910C-8AAD-055B-AC3418199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-- baren</a:t>
            </a:r>
          </a:p>
        </p:txBody>
      </p:sp>
    </p:spTree>
    <p:extLst>
      <p:ext uri="{BB962C8B-B14F-4D97-AF65-F5344CB8AC3E}">
        <p14:creationId xmlns:p14="http://schemas.microsoft.com/office/powerpoint/2010/main" val="3092235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{11ADD556-B3F2-4FA2-A9E7-A859875C974D}TFe742eee6-54b3-45e8-a03d-f3d997f9b6caf6c338c2_win32-3734725ae7e2</Template>
  <TotalTime>4690</TotalTime>
  <Words>238</Words>
  <Application>Microsoft Office PowerPoint</Application>
  <PresentationFormat>Widescreen</PresentationFormat>
  <Paragraphs>32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Goudy Old Style</vt:lpstr>
      <vt:lpstr>Wingdings 2</vt:lpstr>
      <vt:lpstr>SlateVTI</vt:lpstr>
      <vt:lpstr>Dasar Sistem Kontrol</vt:lpstr>
      <vt:lpstr>ALUR</vt:lpstr>
      <vt:lpstr>State Machine &amp; FSM</vt:lpstr>
      <vt:lpstr>PowerPoint Presentation</vt:lpstr>
      <vt:lpstr>PowerPoint Presentation</vt:lpstr>
      <vt:lpstr>PowerPoint Presentation</vt:lpstr>
      <vt:lpstr>PowerPoint Presentation</vt:lpstr>
      <vt:lpstr>Komponen Utama State Machine</vt:lpstr>
      <vt:lpstr>State Flow MP3 Player</vt:lpstr>
      <vt:lpstr>PowerPoint Presentation</vt:lpstr>
      <vt:lpstr>State Flow Traffic Light</vt:lpstr>
      <vt:lpstr>State Flow Turning Signal</vt:lpstr>
      <vt:lpstr>State Action (Entry, During, Exit)</vt:lpstr>
      <vt:lpstr>State Action (Entry, During, Exit)</vt:lpstr>
      <vt:lpstr>State Flow Integrasi dengan Simulink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77</cp:revision>
  <dcterms:created xsi:type="dcterms:W3CDTF">2026-08-21T14:34:46Z</dcterms:created>
  <dcterms:modified xsi:type="dcterms:W3CDTF">2026-10-07T15:51:37Z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