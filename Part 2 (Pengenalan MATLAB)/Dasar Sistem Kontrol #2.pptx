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sldIdLst>
    <p:sldId id="278" r:id="rId5"/>
    <p:sldId id="279" r:id="rId6"/>
    <p:sldId id="282" r:id="rId7"/>
    <p:sldId id="283" r:id="rId8"/>
    <p:sldId id="285" r:id="rId9"/>
    <p:sldId id="287" r:id="rId10"/>
    <p:sldId id="286" r:id="rId11"/>
    <p:sldId id="284" r:id="rId12"/>
    <p:sldId id="28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9842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Dasar </a:t>
            </a:r>
            <a:r>
              <a:rPr lang="en-US" sz="4000" dirty="0" err="1"/>
              <a:t>Sistem</a:t>
            </a:r>
            <a:r>
              <a:rPr lang="en-US" sz="4000" dirty="0"/>
              <a:t> </a:t>
            </a:r>
            <a:r>
              <a:rPr lang="en-US" sz="4000" dirty="0" err="1"/>
              <a:t>Kontrol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#2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ALUR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lvl="0">
              <a:buFontTx/>
              <a:buChar char="-"/>
            </a:pPr>
            <a:r>
              <a:rPr lang="en-ID" sz="2400" dirty="0" err="1">
                <a:effectLst/>
              </a:rPr>
              <a:t>Penjelasan</a:t>
            </a:r>
            <a:r>
              <a:rPr lang="en-ID" sz="2400" dirty="0">
                <a:effectLst/>
              </a:rPr>
              <a:t> </a:t>
            </a:r>
            <a:r>
              <a:rPr lang="en-ID" sz="2400" dirty="0" err="1">
                <a:effectLst/>
              </a:rPr>
              <a:t>matlab</a:t>
            </a:r>
            <a:r>
              <a:rPr lang="en-ID" sz="2400" dirty="0">
                <a:effectLst/>
              </a:rPr>
              <a:t>, Simulink, </a:t>
            </a:r>
            <a:r>
              <a:rPr lang="en-ID" sz="2400" dirty="0" err="1">
                <a:effectLst/>
              </a:rPr>
              <a:t>konsep</a:t>
            </a:r>
            <a:r>
              <a:rPr lang="en-ID" sz="2400" dirty="0">
                <a:effectLst/>
              </a:rPr>
              <a:t> modelling &amp; simulation</a:t>
            </a:r>
          </a:p>
          <a:p>
            <a:pPr lvl="0">
              <a:buFontTx/>
              <a:buChar char="-"/>
            </a:pPr>
            <a:r>
              <a:rPr lang="en-US" sz="2400" dirty="0" err="1"/>
              <a:t>Pemodelan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mekanik</a:t>
            </a:r>
            <a:r>
              <a:rPr lang="en-US" sz="2400" dirty="0"/>
              <a:t>, </a:t>
            </a:r>
            <a:r>
              <a:rPr lang="en-US" sz="2400" dirty="0" err="1"/>
              <a:t>elektrik</a:t>
            </a:r>
            <a:r>
              <a:rPr lang="en-US" sz="2400" dirty="0"/>
              <a:t>, dan </a:t>
            </a:r>
            <a:r>
              <a:rPr lang="en-US" sz="2400" dirty="0" err="1"/>
              <a:t>hidrolik</a:t>
            </a:r>
            <a:r>
              <a:rPr lang="en-US" sz="2400" dirty="0"/>
              <a:t>.</a:t>
            </a:r>
            <a:endParaRPr lang="en-ID" sz="2400" dirty="0">
              <a:effectLst/>
            </a:endParaRPr>
          </a:p>
          <a:p>
            <a:pPr>
              <a:buFontTx/>
              <a:buChar char="-"/>
            </a:pPr>
            <a:r>
              <a:rPr lang="en-US" sz="2400" dirty="0"/>
              <a:t>Laplace Transformation dan Transfer Function</a:t>
            </a:r>
            <a:endParaRPr lang="en-ID" sz="2400" dirty="0">
              <a:effectLst/>
            </a:endParaRPr>
          </a:p>
          <a:p>
            <a:pPr lvl="0">
              <a:buFontTx/>
              <a:buChar char="-"/>
            </a:pPr>
            <a:r>
              <a:rPr lang="en-ID" sz="2400" dirty="0" err="1">
                <a:effectLst/>
              </a:rPr>
              <a:t>Penggunaan</a:t>
            </a:r>
            <a:r>
              <a:rPr lang="en-ID" sz="2400" dirty="0">
                <a:effectLst/>
              </a:rPr>
              <a:t> </a:t>
            </a:r>
            <a:r>
              <a:rPr lang="en-ID" sz="2400" dirty="0" err="1">
                <a:effectLst/>
              </a:rPr>
              <a:t>simulink</a:t>
            </a:r>
            <a:endParaRPr lang="en-ID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6285-62C0-C1EB-AE79-9D7D21C3A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4405457" cy="1257300"/>
          </a:xfrm>
        </p:spPr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, </a:t>
            </a:r>
            <a:r>
              <a:rPr lang="en-US" dirty="0" err="1"/>
              <a:t>simulink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533BA-6ADE-C802-9E6B-6A2E05DA4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76450"/>
            <a:ext cx="4533276" cy="3714749"/>
          </a:xfrm>
        </p:spPr>
        <p:txBody>
          <a:bodyPr/>
          <a:lstStyle/>
          <a:p>
            <a:r>
              <a:rPr lang="en-US" dirty="0" err="1"/>
              <a:t>Matlab</a:t>
            </a:r>
            <a:r>
              <a:rPr lang="en-US" dirty="0"/>
              <a:t>: software guna </a:t>
            </a:r>
            <a:r>
              <a:rPr lang="en-US" dirty="0" err="1"/>
              <a:t>membuat</a:t>
            </a:r>
            <a:r>
              <a:rPr lang="en-US" dirty="0"/>
              <a:t> model</a:t>
            </a:r>
          </a:p>
          <a:p>
            <a:r>
              <a:rPr lang="en-US" dirty="0"/>
              <a:t>Simulink: add-on/</a:t>
            </a:r>
            <a:r>
              <a:rPr lang="en-US" dirty="0" err="1"/>
              <a:t>alat</a:t>
            </a:r>
            <a:r>
              <a:rPr lang="en-US" dirty="0"/>
              <a:t> </a:t>
            </a:r>
            <a:r>
              <a:rPr lang="en-US" dirty="0" err="1"/>
              <a:t>bantu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software </a:t>
            </a:r>
            <a:r>
              <a:rPr lang="en-US" dirty="0" err="1"/>
              <a:t>matlab</a:t>
            </a:r>
            <a:r>
              <a:rPr lang="en-US" dirty="0"/>
              <a:t> guna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pemodelan</a:t>
            </a:r>
            <a:r>
              <a:rPr lang="en-US" dirty="0"/>
              <a:t> dan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simulasi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B71B7-79C7-6CAA-E66A-984286A9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6090676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5BD0-7B91-E5F3-ADB1-090DC4337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4297"/>
            <a:ext cx="10353762" cy="1257300"/>
          </a:xfrm>
        </p:spPr>
        <p:txBody>
          <a:bodyPr/>
          <a:lstStyle/>
          <a:p>
            <a:r>
              <a:rPr lang="en-US" dirty="0" err="1"/>
              <a:t>Pemodelan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5C5FF6-DBE4-DD32-A0A9-EB4B84F9D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489" y="2587728"/>
            <a:ext cx="6837021" cy="37147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398E3-E34E-100B-83EC-E9F7B5306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708" y="1512089"/>
            <a:ext cx="8256581" cy="107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27D8E-BEBE-82B8-42E4-DAC03C1E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0039" y="0"/>
            <a:ext cx="3401961" cy="825910"/>
          </a:xfrm>
        </p:spPr>
        <p:txBody>
          <a:bodyPr/>
          <a:lstStyle/>
          <a:p>
            <a:r>
              <a:rPr lang="en-US" dirty="0"/>
              <a:t>Fitur </a:t>
            </a:r>
            <a:r>
              <a:rPr lang="en-US" dirty="0" err="1"/>
              <a:t>Matlab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C7AAB-5A69-B40D-73AC-1BF15B21B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776748"/>
            <a:ext cx="10353762" cy="561422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Sources Blocks – Generate Your Test Signals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uji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model.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Jenis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: Step, Constant, Ramp, Sine Wave, Random Number, Signal Builder.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menguji</a:t>
            </a:r>
            <a:r>
              <a:rPr lang="en-US" dirty="0"/>
              <a:t> </a:t>
            </a:r>
            <a:r>
              <a:rPr lang="en-US" dirty="0" err="1"/>
              <a:t>respon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input.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Sinks Blocks – Display &amp; Export Your Signals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simulasi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Blok </a:t>
            </a:r>
            <a:r>
              <a:rPr lang="en-US" dirty="0" err="1"/>
              <a:t>penting</a:t>
            </a:r>
            <a:r>
              <a:rPr lang="en-US" dirty="0"/>
              <a:t>: Scope, Display, To Workspace, To File.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 model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visualisasi</a:t>
            </a:r>
            <a:r>
              <a:rPr lang="en-US" sz="1800" dirty="0"/>
              <a:t> </a:t>
            </a:r>
            <a:r>
              <a:rPr lang="en-US" sz="1800" dirty="0" err="1"/>
              <a:t>grafik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ekspor</a:t>
            </a:r>
            <a:r>
              <a:rPr lang="en-US" sz="1800" dirty="0"/>
              <a:t> data.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Math Library – Integrate Mathematical Functions Blocks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matematika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penjumlahan</a:t>
            </a:r>
            <a:r>
              <a:rPr lang="en-US" dirty="0"/>
              <a:t>, </a:t>
            </a:r>
            <a:r>
              <a:rPr lang="en-US" dirty="0" err="1"/>
              <a:t>perkalian</a:t>
            </a:r>
            <a:r>
              <a:rPr lang="en-US" dirty="0"/>
              <a:t>, gain, </a:t>
            </a:r>
            <a:r>
              <a:rPr lang="en-US" dirty="0" err="1"/>
              <a:t>trigonometri</a:t>
            </a:r>
            <a:r>
              <a:rPr lang="en-US" dirty="0"/>
              <a:t>, abs.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</a:t>
            </a:r>
            <a:r>
              <a:rPr lang="en-US" dirty="0" err="1"/>
              <a:t>matematis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model.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digabungkan</a:t>
            </a:r>
            <a:r>
              <a:rPr lang="en-US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blok</a:t>
            </a:r>
            <a:r>
              <a:rPr lang="en-US" sz="1800" dirty="0"/>
              <a:t> lain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membuat</a:t>
            </a:r>
            <a:r>
              <a:rPr lang="en-US" sz="1800" dirty="0"/>
              <a:t> </a:t>
            </a:r>
            <a:r>
              <a:rPr lang="en-US" sz="1800" dirty="0" err="1"/>
              <a:t>sistem</a:t>
            </a:r>
            <a:r>
              <a:rPr lang="en-US" sz="1800" dirty="0"/>
              <a:t> </a:t>
            </a:r>
            <a:r>
              <a:rPr lang="en-US" sz="1800" dirty="0" err="1"/>
              <a:t>kompleks</a:t>
            </a:r>
            <a:r>
              <a:rPr lang="en-US" sz="1800" dirty="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b="1" dirty="0"/>
              <a:t>Matrix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manipulasi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dan </a:t>
            </a:r>
            <a:r>
              <a:rPr lang="en-US" dirty="0" err="1"/>
              <a:t>vektor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Operasi</a:t>
            </a:r>
            <a:r>
              <a:rPr lang="en-US" dirty="0"/>
              <a:t> yang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dipakai</a:t>
            </a:r>
            <a:r>
              <a:rPr lang="en-US" dirty="0"/>
              <a:t>: concatenate, reshape, transpose, indexing.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sz="1800" dirty="0" err="1"/>
              <a:t>pemodelan</a:t>
            </a:r>
            <a:r>
              <a:rPr lang="en-US" sz="1800" dirty="0"/>
              <a:t> multivariable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pengolahan</a:t>
            </a:r>
            <a:r>
              <a:rPr lang="en-US" sz="1800" dirty="0"/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312779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12F9B-D8D5-E4CD-72DB-196B1E4B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6E99-2DE8-0D5D-1F77-5ACA902C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695" y="196644"/>
            <a:ext cx="3401961" cy="825910"/>
          </a:xfrm>
        </p:spPr>
        <p:txBody>
          <a:bodyPr/>
          <a:lstStyle/>
          <a:p>
            <a:r>
              <a:rPr lang="en-US" dirty="0"/>
              <a:t>Fitur </a:t>
            </a:r>
            <a:r>
              <a:rPr lang="en-US" dirty="0" err="1"/>
              <a:t>Matlab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8AFE8-93B6-CD2A-58EE-A2E3451F2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22554"/>
            <a:ext cx="10353762" cy="53684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User Defined Functions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/>
              <a:t>Memungkinkan</a:t>
            </a:r>
            <a:r>
              <a:rPr lang="en-US" sz="2000" dirty="0"/>
              <a:t> </a:t>
            </a:r>
            <a:r>
              <a:rPr lang="en-US" sz="2000" dirty="0" err="1"/>
              <a:t>membuat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</a:t>
            </a:r>
            <a:r>
              <a:rPr lang="en-US" sz="2000" dirty="0" err="1"/>
              <a:t>khusus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MATLAB Function Block.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/>
              <a:t>Mendukung</a:t>
            </a:r>
            <a:r>
              <a:rPr lang="en-US" sz="2000" dirty="0"/>
              <a:t> </a:t>
            </a:r>
            <a:r>
              <a:rPr lang="en-US" sz="2000" dirty="0" err="1"/>
              <a:t>logika</a:t>
            </a:r>
            <a:r>
              <a:rPr lang="en-US" sz="2000" dirty="0"/>
              <a:t> </a:t>
            </a:r>
            <a:r>
              <a:rPr lang="en-US" sz="2000" dirty="0" err="1"/>
              <a:t>pemrograman</a:t>
            </a:r>
            <a:r>
              <a:rPr lang="en-US" sz="2000" dirty="0"/>
              <a:t> (if/else, </a:t>
            </a:r>
            <a:r>
              <a:rPr lang="en-US" sz="2000" dirty="0" err="1"/>
              <a:t>perulangan</a:t>
            </a:r>
            <a:r>
              <a:rPr lang="en-US" sz="2000" dirty="0"/>
              <a:t>).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/>
              <a:t>Cocok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perhitungan</a:t>
            </a:r>
            <a:r>
              <a:rPr lang="en-US" sz="20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aturan</a:t>
            </a:r>
            <a:r>
              <a:rPr lang="en-US" sz="1800" dirty="0"/>
              <a:t> </a:t>
            </a:r>
            <a:r>
              <a:rPr lang="en-US" sz="1800" dirty="0" err="1"/>
              <a:t>khusus</a:t>
            </a:r>
            <a:r>
              <a:rPr lang="en-US" sz="1800" dirty="0"/>
              <a:t> yang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ada</a:t>
            </a:r>
            <a:r>
              <a:rPr lang="en-US" sz="1800" dirty="0"/>
              <a:t> di </a:t>
            </a:r>
            <a:r>
              <a:rPr lang="en-US" sz="1800" dirty="0" err="1"/>
              <a:t>blok</a:t>
            </a:r>
            <a:r>
              <a:rPr lang="en-US" sz="1800" dirty="0"/>
              <a:t> </a:t>
            </a:r>
            <a:r>
              <a:rPr lang="en-US" sz="1800" dirty="0" err="1"/>
              <a:t>standar</a:t>
            </a:r>
            <a:r>
              <a:rPr lang="en-US" sz="18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Look Up Tables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err="1"/>
              <a:t>Mewakili</a:t>
            </a:r>
            <a:r>
              <a:rPr lang="en-US" sz="1800" dirty="0"/>
              <a:t> </a:t>
            </a:r>
            <a:r>
              <a:rPr lang="en-US" sz="2000" dirty="0" err="1"/>
              <a:t>hubungan</a:t>
            </a:r>
            <a:r>
              <a:rPr lang="en-US" sz="2000" dirty="0"/>
              <a:t> input-output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bentuk</a:t>
            </a:r>
            <a:r>
              <a:rPr lang="en-US" sz="2000" dirty="0"/>
              <a:t> </a:t>
            </a:r>
            <a:r>
              <a:rPr lang="en-US" sz="2000" dirty="0" err="1"/>
              <a:t>tabel</a:t>
            </a:r>
            <a:r>
              <a:rPr lang="en-US" sz="2000" dirty="0"/>
              <a:t> data.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fungsi</a:t>
            </a:r>
            <a:r>
              <a:rPr lang="en-US" sz="2000" dirty="0"/>
              <a:t> nonlinear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hasil</a:t>
            </a:r>
            <a:r>
              <a:rPr lang="en-US" sz="2000" dirty="0"/>
              <a:t> </a:t>
            </a:r>
            <a:r>
              <a:rPr lang="en-US" sz="2000" dirty="0" err="1"/>
              <a:t>eksperimen</a:t>
            </a:r>
            <a:r>
              <a:rPr lang="en-US" sz="2000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/>
              <a:t>Contoh</a:t>
            </a:r>
            <a:r>
              <a:rPr lang="en-US" sz="2000" dirty="0"/>
              <a:t>: </a:t>
            </a:r>
            <a:r>
              <a:rPr lang="en-US" sz="2000" dirty="0" err="1"/>
              <a:t>kurva</a:t>
            </a:r>
            <a:r>
              <a:rPr lang="en-US" sz="2000" dirty="0"/>
              <a:t> </a:t>
            </a:r>
            <a:r>
              <a:rPr lang="en-US" sz="2000" dirty="0" err="1"/>
              <a:t>karakteristik</a:t>
            </a:r>
            <a:r>
              <a:rPr lang="en-US" sz="2000" dirty="0"/>
              <a:t> </a:t>
            </a:r>
            <a:r>
              <a:rPr lang="en-US" sz="1800" dirty="0"/>
              <a:t>motor, </a:t>
            </a:r>
            <a:r>
              <a:rPr lang="en-US" sz="1800" dirty="0" err="1"/>
              <a:t>efisiensi</a:t>
            </a:r>
            <a:r>
              <a:rPr lang="en-US" sz="1800" dirty="0"/>
              <a:t> </a:t>
            </a:r>
            <a:r>
              <a:rPr lang="en-US" sz="1800" dirty="0" err="1"/>
              <a:t>pompa</a:t>
            </a:r>
            <a:r>
              <a:rPr lang="en-US" sz="18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mux, </a:t>
            </a:r>
            <a:r>
              <a:rPr lang="en-US" sz="2000" b="1" dirty="0" err="1"/>
              <a:t>demux</a:t>
            </a:r>
            <a:r>
              <a:rPr lang="en-US" sz="2000" b="1" dirty="0"/>
              <a:t> &amp; bus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Mux: </a:t>
            </a:r>
            <a:r>
              <a:rPr lang="en-US" sz="2000" dirty="0" err="1"/>
              <a:t>menggabungkan</a:t>
            </a:r>
            <a:r>
              <a:rPr lang="en-US" sz="2000" dirty="0"/>
              <a:t> </a:t>
            </a:r>
            <a:r>
              <a:rPr lang="en-US" sz="2000" dirty="0" err="1"/>
              <a:t>banyak</a:t>
            </a:r>
            <a:r>
              <a:rPr lang="en-US" sz="2000" dirty="0"/>
              <a:t> </a:t>
            </a:r>
            <a:r>
              <a:rPr lang="en-US" sz="2000" dirty="0" err="1"/>
              <a:t>sinyal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/>
              <a:t>Demux</a:t>
            </a:r>
            <a:r>
              <a:rPr lang="en-US" sz="2000" dirty="0"/>
              <a:t>: </a:t>
            </a:r>
            <a:r>
              <a:rPr lang="en-US" sz="2000" dirty="0" err="1"/>
              <a:t>memisahkan</a:t>
            </a:r>
            <a:r>
              <a:rPr lang="en-US" sz="2000" dirty="0"/>
              <a:t> </a:t>
            </a:r>
            <a:r>
              <a:rPr lang="en-US" sz="2000" dirty="0" err="1"/>
              <a:t>sinyal</a:t>
            </a:r>
            <a:r>
              <a:rPr lang="en-US" sz="2000" dirty="0"/>
              <a:t> </a:t>
            </a:r>
            <a:r>
              <a:rPr lang="en-US" sz="2000" dirty="0" err="1"/>
              <a:t>gabungan</a:t>
            </a:r>
            <a:r>
              <a:rPr lang="en-US" sz="2000" dirty="0"/>
              <a:t> </a:t>
            </a:r>
            <a:r>
              <a:rPr lang="en-US" sz="2000" dirty="0" err="1"/>
              <a:t>kembali</a:t>
            </a:r>
            <a:r>
              <a:rPr lang="en-US" sz="2000" dirty="0"/>
              <a:t> </a:t>
            </a:r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beberapa</a:t>
            </a:r>
            <a:r>
              <a:rPr lang="en-US" sz="2000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Bus: </a:t>
            </a:r>
            <a:r>
              <a:rPr lang="en-US" sz="2000" dirty="0" err="1"/>
              <a:t>wadah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mengelola</a:t>
            </a:r>
            <a:r>
              <a:rPr lang="en-US" sz="2000" dirty="0"/>
              <a:t> </a:t>
            </a:r>
            <a:r>
              <a:rPr lang="en-US" sz="2000" dirty="0" err="1"/>
              <a:t>banyak</a:t>
            </a:r>
            <a:r>
              <a:rPr lang="en-US" sz="2000" dirty="0"/>
              <a:t> </a:t>
            </a:r>
            <a:r>
              <a:rPr lang="en-US" sz="2000" dirty="0" err="1"/>
              <a:t>sinyal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terstruktur</a:t>
            </a:r>
            <a:r>
              <a:rPr lang="en-US" sz="2000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/>
              <a:t>Penting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model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banyak</a:t>
            </a:r>
            <a:r>
              <a:rPr lang="en-US" sz="1800" dirty="0"/>
              <a:t> </a:t>
            </a:r>
            <a:r>
              <a:rPr lang="en-US" sz="1800" dirty="0" err="1"/>
              <a:t>variabel</a:t>
            </a:r>
            <a:r>
              <a:rPr lang="en-US" sz="1800" dirty="0"/>
              <a:t> agar </a:t>
            </a:r>
            <a:r>
              <a:rPr lang="en-US" sz="1800" dirty="0" err="1"/>
              <a:t>tetap</a:t>
            </a:r>
            <a:r>
              <a:rPr lang="en-US" sz="1800" dirty="0"/>
              <a:t> </a:t>
            </a:r>
            <a:r>
              <a:rPr lang="en-US" sz="1800" dirty="0" err="1"/>
              <a:t>rapi</a:t>
            </a:r>
            <a:r>
              <a:rPr lang="en-US" sz="18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Selectors &amp; Switches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Selector: </a:t>
            </a:r>
            <a:r>
              <a:rPr lang="en-US" sz="2000" dirty="0" err="1"/>
              <a:t>memilih</a:t>
            </a:r>
            <a:r>
              <a:rPr lang="en-US" sz="2000" dirty="0"/>
              <a:t> </a:t>
            </a:r>
            <a:r>
              <a:rPr lang="en-US" sz="2000" dirty="0" err="1"/>
              <a:t>elemen</a:t>
            </a:r>
            <a:r>
              <a:rPr lang="en-US" sz="2000" dirty="0"/>
              <a:t> </a:t>
            </a:r>
            <a:r>
              <a:rPr lang="en-US" sz="2000" dirty="0" err="1"/>
              <a:t>tertentu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vektor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matriks</a:t>
            </a:r>
            <a:r>
              <a:rPr lang="en-US" sz="2000" dirty="0"/>
              <a:t>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Switch: </a:t>
            </a:r>
            <a:r>
              <a:rPr lang="en-US" sz="2000" dirty="0" err="1"/>
              <a:t>memilih</a:t>
            </a:r>
            <a:r>
              <a:rPr lang="en-US" sz="2000" dirty="0"/>
              <a:t> </a:t>
            </a:r>
            <a:r>
              <a:rPr lang="en-US" sz="2000" dirty="0" err="1"/>
              <a:t>jalur</a:t>
            </a:r>
            <a:r>
              <a:rPr lang="en-US" sz="2000" dirty="0"/>
              <a:t> </a:t>
            </a:r>
            <a:r>
              <a:rPr lang="en-US" sz="2000" dirty="0" err="1"/>
              <a:t>sinyal</a:t>
            </a:r>
            <a:r>
              <a:rPr lang="en-US" sz="2000" dirty="0"/>
              <a:t> </a:t>
            </a:r>
            <a:r>
              <a:rPr lang="en-US" sz="2000" dirty="0" err="1"/>
              <a:t>berdasarkan</a:t>
            </a:r>
            <a:r>
              <a:rPr lang="en-US" sz="2000" dirty="0"/>
              <a:t>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dirty="0" err="1"/>
              <a:t>tertentu</a:t>
            </a:r>
            <a:r>
              <a:rPr lang="en-US" sz="2000" dirty="0"/>
              <a:t>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err="1"/>
              <a:t>Berguna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model </a:t>
            </a:r>
            <a:r>
              <a:rPr lang="en-US" sz="1800" dirty="0" err="1"/>
              <a:t>dengan</a:t>
            </a:r>
            <a:r>
              <a:rPr lang="en-US" sz="1800" dirty="0"/>
              <a:t> mode </a:t>
            </a:r>
            <a:r>
              <a:rPr lang="en-US" sz="1800" dirty="0" err="1"/>
              <a:t>operasi</a:t>
            </a:r>
            <a:r>
              <a:rPr lang="en-US" sz="1800" dirty="0"/>
              <a:t> </a:t>
            </a:r>
            <a:r>
              <a:rPr lang="en-US" sz="1800" dirty="0" err="1"/>
              <a:t>berbeda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0303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B5B53-9880-0134-C675-15B0BB349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B0DAA-02BB-1487-65A5-ED65FE14F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5019" y="467033"/>
            <a:ext cx="3401961" cy="825910"/>
          </a:xfrm>
        </p:spPr>
        <p:txBody>
          <a:bodyPr/>
          <a:lstStyle/>
          <a:p>
            <a:r>
              <a:rPr lang="en-US" dirty="0"/>
              <a:t>Fitur </a:t>
            </a:r>
            <a:r>
              <a:rPr lang="en-US" dirty="0" err="1"/>
              <a:t>Matlab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B4A89-573A-CAA0-2B69-DFA59B340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84672"/>
            <a:ext cx="10353762" cy="4906296"/>
          </a:xfrm>
        </p:spPr>
        <p:txBody>
          <a:bodyPr>
            <a:normAutofit/>
          </a:bodyPr>
          <a:lstStyle/>
          <a:p>
            <a:r>
              <a:rPr lang="en-US" sz="1800" b="1" dirty="0"/>
              <a:t>Logic Operations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: AND, OR, NOT, XOR, relational operator.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Dipakai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butuh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biner.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Contoh</a:t>
            </a:r>
            <a:r>
              <a:rPr lang="en-US" dirty="0"/>
              <a:t>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pengaman</a:t>
            </a:r>
            <a:r>
              <a:rPr lang="en-US" sz="1800" dirty="0"/>
              <a:t>, </a:t>
            </a:r>
            <a:r>
              <a:rPr lang="en-US" sz="1800" dirty="0" err="1"/>
              <a:t>kontrol</a:t>
            </a:r>
            <a:r>
              <a:rPr lang="en-US" sz="1800" dirty="0"/>
              <a:t> </a:t>
            </a:r>
            <a:r>
              <a:rPr lang="en-US" sz="1800" dirty="0" err="1"/>
              <a:t>lampu</a:t>
            </a:r>
            <a:r>
              <a:rPr lang="en-US" sz="1800" dirty="0"/>
              <a:t> </a:t>
            </a:r>
            <a:r>
              <a:rPr lang="en-US" sz="1800" dirty="0" err="1"/>
              <a:t>lalu</a:t>
            </a:r>
            <a:r>
              <a:rPr lang="en-US" sz="1800" dirty="0"/>
              <a:t> </a:t>
            </a:r>
            <a:r>
              <a:rPr lang="en-US" sz="1800" dirty="0" err="1"/>
              <a:t>lintas</a:t>
            </a:r>
            <a:r>
              <a:rPr lang="en-US" sz="1800" dirty="0"/>
              <a:t>.</a:t>
            </a:r>
          </a:p>
          <a:p>
            <a:r>
              <a:rPr lang="en-US" sz="1800" b="1" dirty="0"/>
              <a:t>Subsystems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Mengelompokkan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rapi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Membuat</a:t>
            </a:r>
            <a:r>
              <a:rPr lang="en-US" dirty="0"/>
              <a:t> model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dipahami</a:t>
            </a:r>
            <a:r>
              <a:rPr lang="en-US" dirty="0"/>
              <a:t>, reusable, dan </a:t>
            </a:r>
            <a:r>
              <a:rPr lang="en-US" dirty="0" err="1"/>
              <a:t>ringkas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/>
              <a:t>Contoh</a:t>
            </a:r>
            <a:r>
              <a:rPr lang="en-US" dirty="0"/>
              <a:t>: subsystem </a:t>
            </a:r>
            <a:r>
              <a:rPr lang="en-US" sz="1800" dirty="0" err="1"/>
              <a:t>khusus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plant, subsystem </a:t>
            </a:r>
            <a:r>
              <a:rPr lang="en-US" sz="1800" dirty="0" err="1"/>
              <a:t>khusus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controller.</a:t>
            </a:r>
          </a:p>
          <a:p>
            <a:r>
              <a:rPr lang="en-US" sz="1800" b="1" dirty="0"/>
              <a:t>Using M-Files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dirty="0" err="1"/>
              <a:t>Menghubungkan</a:t>
            </a:r>
            <a:r>
              <a:rPr lang="en-US" sz="1900" dirty="0"/>
              <a:t> script MATLAB (.m file) </a:t>
            </a:r>
            <a:r>
              <a:rPr lang="en-US" sz="1900" dirty="0" err="1"/>
              <a:t>dengan</a:t>
            </a:r>
            <a:r>
              <a:rPr lang="en-US" sz="1900" dirty="0"/>
              <a:t> model Simulink.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dirty="0"/>
              <a:t>Bisa </a:t>
            </a:r>
            <a:r>
              <a:rPr lang="en-US" sz="1900" dirty="0" err="1"/>
              <a:t>digunakan</a:t>
            </a:r>
            <a:r>
              <a:rPr lang="en-US" sz="1900" dirty="0"/>
              <a:t> </a:t>
            </a:r>
            <a:r>
              <a:rPr lang="en-US" sz="1900" dirty="0" err="1"/>
              <a:t>untuk</a:t>
            </a:r>
            <a:r>
              <a:rPr lang="en-US" sz="1900" dirty="0"/>
              <a:t>: </a:t>
            </a:r>
            <a:r>
              <a:rPr lang="en-US" sz="1900" dirty="0" err="1"/>
              <a:t>inisialisasi</a:t>
            </a:r>
            <a:r>
              <a:rPr lang="en-US" sz="1900" dirty="0"/>
              <a:t> parameter, </a:t>
            </a:r>
            <a:r>
              <a:rPr lang="en-US" sz="1900" dirty="0" err="1"/>
              <a:t>penyimpanan</a:t>
            </a:r>
            <a:r>
              <a:rPr lang="en-US" sz="1900" dirty="0"/>
              <a:t> </a:t>
            </a:r>
            <a:r>
              <a:rPr lang="en-US" sz="1900" dirty="0" err="1"/>
              <a:t>hasil</a:t>
            </a:r>
            <a:r>
              <a:rPr lang="en-US" sz="1900" dirty="0"/>
              <a:t> </a:t>
            </a:r>
            <a:r>
              <a:rPr lang="en-US" sz="1900" dirty="0" err="1"/>
              <a:t>simulasi</a:t>
            </a:r>
            <a:r>
              <a:rPr lang="en-US" sz="1900" dirty="0"/>
              <a:t>, </a:t>
            </a:r>
            <a:r>
              <a:rPr lang="en-US" sz="1900" dirty="0" err="1"/>
              <a:t>perhitungan</a:t>
            </a:r>
            <a:r>
              <a:rPr lang="en-US" sz="1900" dirty="0"/>
              <a:t> </a:t>
            </a:r>
            <a:r>
              <a:rPr lang="en-US" sz="1900" dirty="0" err="1"/>
              <a:t>tambahan</a:t>
            </a:r>
            <a:r>
              <a:rPr lang="en-US" sz="1900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dirty="0" err="1"/>
              <a:t>Membantu</a:t>
            </a:r>
            <a:r>
              <a:rPr lang="en-US" sz="1900" dirty="0"/>
              <a:t> </a:t>
            </a:r>
            <a:r>
              <a:rPr lang="en-US" sz="1900" dirty="0" err="1"/>
              <a:t>otomatisasi</a:t>
            </a:r>
            <a:r>
              <a:rPr lang="en-US" sz="1900" dirty="0"/>
              <a:t> </a:t>
            </a:r>
            <a:r>
              <a:rPr lang="en-US" sz="1800" dirty="0"/>
              <a:t>dan </a:t>
            </a:r>
            <a:r>
              <a:rPr lang="en-US" sz="1800" dirty="0" err="1"/>
              <a:t>parameterisasi</a:t>
            </a:r>
            <a:r>
              <a:rPr lang="en-US" sz="1800" dirty="0"/>
              <a:t> model.</a:t>
            </a:r>
          </a:p>
        </p:txBody>
      </p:sp>
    </p:spTree>
    <p:extLst>
      <p:ext uri="{BB962C8B-B14F-4D97-AF65-F5344CB8AC3E}">
        <p14:creationId xmlns:p14="http://schemas.microsoft.com/office/powerpoint/2010/main" val="868314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8E1B-11CD-9BE5-6CD8-F5DA8AC00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Function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D5A49-AE54-06C9-BE42-4FA170845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11" y="2266923"/>
            <a:ext cx="6201640" cy="3753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84B1B4-B14B-2902-0AA8-1C3904C8D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445" y="2624947"/>
            <a:ext cx="3839111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23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07912-0091-E11F-A2B4-4792B8DD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D7BD7-41A5-184B-6BC2-8412236CC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328B6B43-A84E-7039-ACDB-C1035C2AC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1CADB-B180-2071-EAB4-417486110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Terima</a:t>
            </a:r>
            <a:r>
              <a:rPr lang="en-US" sz="4000" dirty="0"/>
              <a:t> Kasih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B3FAE-910C-8AAD-055B-AC3418199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-- baren</a:t>
            </a:r>
          </a:p>
        </p:txBody>
      </p:sp>
    </p:spTree>
    <p:extLst>
      <p:ext uri="{BB962C8B-B14F-4D97-AF65-F5344CB8AC3E}">
        <p14:creationId xmlns:p14="http://schemas.microsoft.com/office/powerpoint/2010/main" val="30922353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{11ADD556-B3F2-4FA2-A9E7-A859875C974D}TFe742eee6-54b3-45e8-a03d-f3d997f9b6caf6c338c2_win32-3734725ae7e2</Template>
  <TotalTime>749</TotalTime>
  <Words>463</Words>
  <Application>Microsoft Office PowerPoint</Application>
  <PresentationFormat>Widescreen</PresentationFormat>
  <Paragraphs>63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Goudy Old Style</vt:lpstr>
      <vt:lpstr>Wingdings 2</vt:lpstr>
      <vt:lpstr>SlateVTI</vt:lpstr>
      <vt:lpstr>Dasar Sistem Kontrol</vt:lpstr>
      <vt:lpstr>ALUR</vt:lpstr>
      <vt:lpstr>Matlab, simulink</vt:lpstr>
      <vt:lpstr>Pemodelan</vt:lpstr>
      <vt:lpstr>Fitur Matlab</vt:lpstr>
      <vt:lpstr>Fitur Matlab</vt:lpstr>
      <vt:lpstr>Fitur Matlab</vt:lpstr>
      <vt:lpstr>Transfer Function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Barendra Wisnu Ihsan Kumala</dc:creator>
  <cp:lastModifiedBy>Barendra Wisnu Ihsan Kumala</cp:lastModifiedBy>
  <cp:revision>7</cp:revision>
  <dcterms:created xsi:type="dcterms:W3CDTF">2026-08-21T14:34:46Z</dcterms:created>
  <dcterms:modified xsi:type="dcterms:W3CDTF">2026-09-03T01:14:34Z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