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9"/>
  </p:notesMasterIdLst>
  <p:sldIdLst>
    <p:sldId id="278" r:id="rId5"/>
    <p:sldId id="279" r:id="rId6"/>
    <p:sldId id="282" r:id="rId7"/>
    <p:sldId id="283" r:id="rId8"/>
    <p:sldId id="291" r:id="rId9"/>
    <p:sldId id="292" r:id="rId10"/>
    <p:sldId id="294" r:id="rId11"/>
    <p:sldId id="289" r:id="rId12"/>
    <p:sldId id="284" r:id="rId13"/>
    <p:sldId id="295" r:id="rId14"/>
    <p:sldId id="296" r:id="rId15"/>
    <p:sldId id="297" r:id="rId16"/>
    <p:sldId id="290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9842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Dasar </a:t>
            </a:r>
            <a:r>
              <a:rPr lang="en-US" sz="4000" dirty="0" err="1"/>
              <a:t>Sistem</a:t>
            </a:r>
            <a:r>
              <a:rPr lang="en-US" sz="4000" dirty="0"/>
              <a:t> </a:t>
            </a:r>
            <a:r>
              <a:rPr lang="en-US" sz="4000" dirty="0" err="1"/>
              <a:t>Kontrol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#3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E972DF-084C-0A0C-5A2C-2E8913A78D50}"/>
              </a:ext>
            </a:extLst>
          </p:cNvPr>
          <p:cNvSpPr/>
          <p:nvPr/>
        </p:nvSpPr>
        <p:spPr>
          <a:xfrm>
            <a:off x="1406013" y="3429000"/>
            <a:ext cx="4562168" cy="202289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Simulink </a:t>
            </a:r>
            <a:r>
              <a:rPr lang="en-US" sz="3200" dirty="0" err="1">
                <a:solidFill>
                  <a:schemeClr val="tx2"/>
                </a:solidFill>
              </a:rPr>
              <a:t>Pemodelan</a:t>
            </a:r>
            <a:r>
              <a:rPr lang="en-US" sz="3200" dirty="0">
                <a:solidFill>
                  <a:schemeClr val="tx2"/>
                </a:solidFill>
              </a:rPr>
              <a:t> &amp; </a:t>
            </a:r>
            <a:r>
              <a:rPr lang="en-US" sz="3200" dirty="0" err="1">
                <a:solidFill>
                  <a:schemeClr val="tx2"/>
                </a:solidFill>
              </a:rPr>
              <a:t>Kontrol</a:t>
            </a:r>
            <a:r>
              <a:rPr lang="en-US" sz="3200" dirty="0">
                <a:solidFill>
                  <a:schemeClr val="tx2"/>
                </a:solidFill>
              </a:rPr>
              <a:t> PID</a:t>
            </a:r>
            <a:endParaRPr lang="en-ID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ALUR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515951"/>
          </a:xfrm>
        </p:spPr>
        <p:txBody>
          <a:bodyPr anchor="t">
            <a:normAutofit/>
          </a:bodyPr>
          <a:lstStyle/>
          <a:p>
            <a:pPr lvl="0">
              <a:buFontTx/>
              <a:buChar char="-"/>
            </a:pPr>
            <a:r>
              <a:rPr lang="en-ID" sz="2400" dirty="0" err="1">
                <a:effectLst/>
              </a:rPr>
              <a:t>Pemodelan</a:t>
            </a:r>
            <a:r>
              <a:rPr lang="en-ID" sz="2400" dirty="0">
                <a:effectLst/>
              </a:rPr>
              <a:t> </a:t>
            </a:r>
            <a:r>
              <a:rPr lang="en-ID" sz="2400" dirty="0" err="1">
                <a:effectLst/>
              </a:rPr>
              <a:t>Sistem</a:t>
            </a:r>
            <a:r>
              <a:rPr lang="en-ID" sz="2400" dirty="0">
                <a:effectLst/>
              </a:rPr>
              <a:t> dan PID</a:t>
            </a:r>
          </a:p>
          <a:p>
            <a:pPr lvl="0">
              <a:buFontTx/>
              <a:buChar char="-"/>
            </a:pPr>
            <a:r>
              <a:rPr lang="en-US" sz="2400" dirty="0" err="1"/>
              <a:t>Pemodelan</a:t>
            </a:r>
            <a:r>
              <a:rPr lang="en-US" sz="2400" dirty="0"/>
              <a:t> Tank Level</a:t>
            </a:r>
            <a:endParaRPr lang="es-ES" sz="2400" dirty="0"/>
          </a:p>
          <a:p>
            <a:pPr lvl="0">
              <a:buFontTx/>
              <a:buChar char="-"/>
            </a:pPr>
            <a:r>
              <a:rPr lang="en-US" sz="2400" dirty="0" err="1"/>
              <a:t>Pemodelan</a:t>
            </a:r>
            <a:r>
              <a:rPr lang="en-US" sz="2400" dirty="0"/>
              <a:t> Mass String Damper</a:t>
            </a:r>
          </a:p>
          <a:p>
            <a:pPr lvl="0">
              <a:buFontTx/>
              <a:buChar char="-"/>
            </a:pPr>
            <a:r>
              <a:rPr lang="en-ID" sz="2400" dirty="0" err="1">
                <a:effectLst/>
              </a:rPr>
              <a:t>Pemodelan</a:t>
            </a:r>
            <a:r>
              <a:rPr lang="en-ID" sz="2400" dirty="0">
                <a:effectLst/>
              </a:rPr>
              <a:t> DC Servo Motor</a:t>
            </a:r>
          </a:p>
          <a:p>
            <a:pPr lvl="0">
              <a:buFontTx/>
              <a:buChar char="-"/>
            </a:pPr>
            <a:r>
              <a:rPr lang="en-US" sz="2400" dirty="0"/>
              <a:t>PID &amp; </a:t>
            </a:r>
            <a:r>
              <a:rPr lang="en-US" sz="2400" dirty="0" err="1"/>
              <a:t>Simulasi</a:t>
            </a:r>
            <a:r>
              <a:rPr lang="en-US" sz="2400" dirty="0"/>
              <a:t> </a:t>
            </a:r>
            <a:r>
              <a:rPr lang="en-US" sz="2400" dirty="0" err="1"/>
              <a:t>Pemodelan</a:t>
            </a:r>
            <a:endParaRPr lang="en-US" sz="2400" dirty="0"/>
          </a:p>
          <a:p>
            <a:pPr lvl="0">
              <a:buFontTx/>
              <a:buChar char="-"/>
            </a:pPr>
            <a:r>
              <a:rPr lang="en-US" sz="2400" dirty="0"/>
              <a:t>Model Quarter Car</a:t>
            </a:r>
            <a:endParaRPr lang="en-ID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6285-62C0-C1EB-AE79-9D7D21C3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77" y="609600"/>
            <a:ext cx="4533275" cy="1257300"/>
          </a:xfrm>
        </p:spPr>
        <p:txBody>
          <a:bodyPr>
            <a:normAutofit/>
          </a:bodyPr>
          <a:lstStyle/>
          <a:p>
            <a:r>
              <a:rPr lang="en-US" dirty="0" err="1"/>
              <a:t>Pemodelan</a:t>
            </a:r>
            <a:r>
              <a:rPr lang="en-US" dirty="0"/>
              <a:t> &amp; PID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533BA-6ADE-C802-9E6B-6A2E05DA4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4533276" cy="3714749"/>
          </a:xfrm>
        </p:spPr>
        <p:txBody>
          <a:bodyPr/>
          <a:lstStyle/>
          <a:p>
            <a:r>
              <a:rPr lang="en-US" dirty="0" err="1"/>
              <a:t>Pemodelan</a:t>
            </a:r>
            <a:r>
              <a:rPr lang="en-US" dirty="0"/>
              <a:t> = </a:t>
            </a:r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hardware </a:t>
            </a:r>
            <a:r>
              <a:rPr lang="en-US" dirty="0" err="1"/>
              <a:t>nyata</a:t>
            </a:r>
            <a:endParaRPr lang="en-US" dirty="0"/>
          </a:p>
          <a:p>
            <a:r>
              <a:rPr lang="en-US" dirty="0"/>
              <a:t>PID = </a:t>
            </a:r>
            <a:r>
              <a:rPr lang="en-US" dirty="0" err="1"/>
              <a:t>metode</a:t>
            </a:r>
            <a:r>
              <a:rPr lang="en-US" dirty="0"/>
              <a:t> control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/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error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B71B7-79C7-6CAA-E66A-984286A9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6090676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45BD0-7B91-E5F3-ADB1-090DC4337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10" y="196645"/>
            <a:ext cx="3046156" cy="628650"/>
          </a:xfrm>
        </p:spPr>
        <p:txBody>
          <a:bodyPr>
            <a:normAutofit/>
          </a:bodyPr>
          <a:lstStyle/>
          <a:p>
            <a:r>
              <a:rPr lang="en-US" sz="2400" dirty="0" err="1"/>
              <a:t>Pemodelan</a:t>
            </a:r>
            <a:r>
              <a:rPr lang="en-US" sz="2400" dirty="0"/>
              <a:t> Tank Level</a:t>
            </a:r>
            <a:endParaRPr lang="en-ID" sz="2400" dirty="0"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9E7BB85C-F45C-2F69-5839-5F9F9E529A8D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214" y="306591"/>
            <a:ext cx="8292243" cy="4022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C9D852-ED17-F83D-9902-6356F179A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67"/>
          <a:stretch>
            <a:fillRect/>
          </a:stretch>
        </p:blipFill>
        <p:spPr>
          <a:xfrm>
            <a:off x="3454214" y="4145060"/>
            <a:ext cx="8292243" cy="23349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2F44D5-9639-3EB3-A775-ED90868C75A1}"/>
              </a:ext>
            </a:extLst>
          </p:cNvPr>
          <p:cNvSpPr/>
          <p:nvPr/>
        </p:nvSpPr>
        <p:spPr>
          <a:xfrm>
            <a:off x="7315200" y="3618271"/>
            <a:ext cx="570271" cy="3834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4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DAC4B-BD8A-A604-9154-1F11AA63C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4D1FA-9D5B-6675-C423-286FF88DF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10" y="196645"/>
            <a:ext cx="3046156" cy="628650"/>
          </a:xfrm>
        </p:spPr>
        <p:txBody>
          <a:bodyPr>
            <a:normAutofit/>
          </a:bodyPr>
          <a:lstStyle/>
          <a:p>
            <a:r>
              <a:rPr lang="en-US" sz="2400" dirty="0" err="1"/>
              <a:t>Pemodelan</a:t>
            </a:r>
            <a:r>
              <a:rPr lang="en-US" sz="2400" dirty="0"/>
              <a:t> Tank Level</a:t>
            </a:r>
            <a:endParaRPr lang="en-ID" sz="24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FFCF1F6-8B10-8691-855A-563CC99B7AA8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371" y="825295"/>
            <a:ext cx="9015257" cy="4022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8F8923-95C6-4AEC-6EB4-D161BE77C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12" y="4700784"/>
            <a:ext cx="6165704" cy="15517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992976-68CA-0E63-204A-B2D5821FC3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316" y="3705507"/>
            <a:ext cx="5582429" cy="29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6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7D0FE-310E-DB20-8997-9B5FF5E27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5C2E0-EFA3-5073-EB14-AFD55B00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34297"/>
            <a:ext cx="10353762" cy="1257300"/>
          </a:xfrm>
        </p:spPr>
        <p:txBody>
          <a:bodyPr/>
          <a:lstStyle/>
          <a:p>
            <a:r>
              <a:rPr lang="en-US" dirty="0" err="1"/>
              <a:t>Pemodelan</a:t>
            </a:r>
            <a:r>
              <a:rPr lang="en-US" dirty="0"/>
              <a:t> Mass String Damper</a:t>
            </a:r>
            <a:endParaRPr lang="en-ID" dirty="0"/>
          </a:p>
        </p:txBody>
      </p:sp>
      <p:pic>
        <p:nvPicPr>
          <p:cNvPr id="3" name="Content Placeholder 11">
            <a:extLst>
              <a:ext uri="{FF2B5EF4-FFF2-40B4-BE49-F238E27FC236}">
                <a16:creationId xmlns:a16="http://schemas.microsoft.com/office/drawing/2014/main" id="{A4CA2D12-FFE2-8FEB-32D4-15D9A55D24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518" y="1591597"/>
            <a:ext cx="5601482" cy="27912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468201-D1D7-B4E9-7EBA-2BFB1F91B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616" y="3248860"/>
            <a:ext cx="7237942" cy="336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7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F2ACE-D880-11B0-6D9A-45088ECAF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804AE-5918-0A08-A969-FDA0916AF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34297"/>
            <a:ext cx="10353762" cy="1257300"/>
          </a:xfrm>
        </p:spPr>
        <p:txBody>
          <a:bodyPr/>
          <a:lstStyle/>
          <a:p>
            <a:pPr lvl="0"/>
            <a:r>
              <a:rPr lang="en-ID" sz="4800" dirty="0" err="1">
                <a:effectLst/>
              </a:rPr>
              <a:t>Pemodelan</a:t>
            </a:r>
            <a:r>
              <a:rPr lang="en-ID" sz="4800" dirty="0">
                <a:effectLst/>
              </a:rPr>
              <a:t> DC Servo Motor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12F38E12-022A-A35D-8A1D-445382799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547" y="1571625"/>
            <a:ext cx="6651334" cy="3714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E3ED5E-2CEC-FA92-399C-466E4A6F7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126" y="3958526"/>
            <a:ext cx="7453981" cy="17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79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9D0E8-29B6-77A6-6ED4-CFF734205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408AF-958D-182A-817D-6BD3BE7EB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34297"/>
            <a:ext cx="10353762" cy="1257300"/>
          </a:xfrm>
        </p:spPr>
        <p:txBody>
          <a:bodyPr/>
          <a:lstStyle/>
          <a:p>
            <a:pPr lvl="0"/>
            <a:r>
              <a:rPr lang="en-ID" sz="4800" dirty="0" err="1">
                <a:effectLst/>
              </a:rPr>
              <a:t>Pemodelan</a:t>
            </a:r>
            <a:r>
              <a:rPr lang="en-ID" sz="4800" dirty="0">
                <a:effectLst/>
              </a:rPr>
              <a:t> DC Servo Motor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8D1CF1E0-F917-900C-EDA6-63BD015C4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547" y="1571625"/>
            <a:ext cx="6651334" cy="3714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70AFCC-CC59-D662-4DCE-8CCD861F2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0" y="3875744"/>
            <a:ext cx="7442200" cy="282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20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8E1B-11CD-9BE5-6CD8-F5DA8AC0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029" y="97779"/>
            <a:ext cx="4065941" cy="698090"/>
          </a:xfrm>
        </p:spPr>
        <p:txBody>
          <a:bodyPr>
            <a:normAutofit/>
          </a:bodyPr>
          <a:lstStyle/>
          <a:p>
            <a:r>
              <a:rPr lang="en-US" sz="2800" dirty="0"/>
              <a:t>PID &amp; </a:t>
            </a:r>
            <a:r>
              <a:rPr lang="en-US" sz="2800" dirty="0" err="1"/>
              <a:t>Simulasi</a:t>
            </a:r>
            <a:r>
              <a:rPr lang="en-US" sz="2800" dirty="0"/>
              <a:t> </a:t>
            </a:r>
            <a:r>
              <a:rPr lang="en-US" sz="2800" dirty="0" err="1"/>
              <a:t>Pemodelan</a:t>
            </a:r>
            <a:endParaRPr lang="en-ID" sz="2800" dirty="0"/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4C9D8C75-1BC2-A4EA-6205-4306266615ED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53" y="795869"/>
            <a:ext cx="10433094" cy="579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2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859D6-F36A-F742-33C3-603F1230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5297E-03CE-D3E9-D65E-98DE5C896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029" y="97779"/>
            <a:ext cx="4065941" cy="698090"/>
          </a:xfrm>
        </p:spPr>
        <p:txBody>
          <a:bodyPr>
            <a:normAutofit/>
          </a:bodyPr>
          <a:lstStyle/>
          <a:p>
            <a:r>
              <a:rPr lang="en-US" sz="2800" dirty="0"/>
              <a:t>PID &amp; </a:t>
            </a:r>
            <a:r>
              <a:rPr lang="en-US" sz="2800" dirty="0" err="1"/>
              <a:t>Simulasi</a:t>
            </a:r>
            <a:r>
              <a:rPr lang="en-US" sz="2800" dirty="0"/>
              <a:t> </a:t>
            </a:r>
            <a:r>
              <a:rPr lang="en-US" sz="2800" dirty="0" err="1"/>
              <a:t>Pemodelan</a:t>
            </a:r>
            <a:endParaRPr lang="en-ID" sz="2800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6374D222-D179-162E-4436-85E4B3CB308B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77" y="795869"/>
            <a:ext cx="10728244" cy="591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365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88614-631D-35FE-9669-FB63A43A1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A9DC1-B179-C27F-7874-6325FF909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029" y="97779"/>
            <a:ext cx="4065941" cy="698090"/>
          </a:xfrm>
        </p:spPr>
        <p:txBody>
          <a:bodyPr>
            <a:normAutofit/>
          </a:bodyPr>
          <a:lstStyle/>
          <a:p>
            <a:r>
              <a:rPr lang="en-US" sz="2800" dirty="0"/>
              <a:t>PID &amp; </a:t>
            </a:r>
            <a:r>
              <a:rPr lang="en-US" sz="2800" dirty="0" err="1"/>
              <a:t>Simulasi</a:t>
            </a:r>
            <a:r>
              <a:rPr lang="en-US" sz="2800" dirty="0"/>
              <a:t> </a:t>
            </a:r>
            <a:r>
              <a:rPr lang="en-US" sz="2800" dirty="0" err="1"/>
              <a:t>Pemodelan</a:t>
            </a:r>
            <a:endParaRPr lang="en-ID" sz="2800" dirty="0"/>
          </a:p>
        </p:txBody>
      </p:sp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E7A83269-F4CD-91BE-0D4D-07A03A5B06E3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40" y="840581"/>
            <a:ext cx="11219917" cy="517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479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3E277-052F-473A-EE13-B3DACB11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13">
            <a:extLst>
              <a:ext uri="{FF2B5EF4-FFF2-40B4-BE49-F238E27FC236}">
                <a16:creationId xmlns:a16="http://schemas.microsoft.com/office/drawing/2014/main" id="{3D8470BA-94AE-81CE-265C-E149E652615C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18" y="325820"/>
            <a:ext cx="5331803" cy="51641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7F768F4-EE3D-6FAB-CBB0-61E3F8721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555" y="2907889"/>
            <a:ext cx="7259783" cy="333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38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27CC-8F4C-DE22-2626-7F63B96B6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13">
            <a:extLst>
              <a:ext uri="{FF2B5EF4-FFF2-40B4-BE49-F238E27FC236}">
                <a16:creationId xmlns:a16="http://schemas.microsoft.com/office/drawing/2014/main" id="{FACE7C3D-989D-B663-E65E-FA39E3A3D9F3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70" y="846931"/>
            <a:ext cx="5331803" cy="5164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69667A-CC77-6CB0-4DC9-A46B141C94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240" y="846930"/>
            <a:ext cx="6908990" cy="516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11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07912-0091-E11F-A2B4-4792B8DD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DD7BD7-41A5-184B-6BC2-8412236CC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328B6B43-A84E-7039-ACDB-C1035C2AC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11CADB-B180-2071-EAB4-417486110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/>
              <a:t>Terima</a:t>
            </a:r>
            <a:r>
              <a:rPr lang="en-US" sz="4000" dirty="0"/>
              <a:t> Kasih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B3FAE-910C-8AAD-055B-AC3418199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-- baren</a:t>
            </a:r>
          </a:p>
        </p:txBody>
      </p:sp>
    </p:spTree>
    <p:extLst>
      <p:ext uri="{BB962C8B-B14F-4D97-AF65-F5344CB8AC3E}">
        <p14:creationId xmlns:p14="http://schemas.microsoft.com/office/powerpoint/2010/main" val="30922353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{11ADD556-B3F2-4FA2-A9E7-A859875C974D}TFe742eee6-54b3-45e8-a03d-f3d997f9b6caf6c338c2_win32-3734725ae7e2</Template>
  <TotalTime>3103</TotalTime>
  <Words>90</Words>
  <Application>Microsoft Office PowerPoint</Application>
  <PresentationFormat>Widescreen</PresentationFormat>
  <Paragraphs>24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Goudy Old Style</vt:lpstr>
      <vt:lpstr>Wingdings 2</vt:lpstr>
      <vt:lpstr>SlateVTI</vt:lpstr>
      <vt:lpstr>Dasar Sistem Kontrol</vt:lpstr>
      <vt:lpstr>ALUR</vt:lpstr>
      <vt:lpstr>Pemodelan &amp; PID</vt:lpstr>
      <vt:lpstr>Pemodelan Tank Level</vt:lpstr>
      <vt:lpstr>Pemodelan Tank Level</vt:lpstr>
      <vt:lpstr>Pemodelan Mass String Damper</vt:lpstr>
      <vt:lpstr>Pemodelan DC Servo Motor</vt:lpstr>
      <vt:lpstr>Pemodelan DC Servo Motor</vt:lpstr>
      <vt:lpstr>PID &amp; Simulasi Pemodelan</vt:lpstr>
      <vt:lpstr>PID &amp; Simulasi Pemodelan</vt:lpstr>
      <vt:lpstr>PID &amp; Simulasi Pemodelan</vt:lpstr>
      <vt:lpstr>PowerPoint Presentation</vt:lpstr>
      <vt:lpstr>PowerPoint Presentation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Barendra Wisnu Ihsan Kumala</dc:creator>
  <cp:lastModifiedBy>Barendra Wisnu Ihsan Kumala</cp:lastModifiedBy>
  <cp:revision>37</cp:revision>
  <dcterms:created xsi:type="dcterms:W3CDTF">2026-08-21T14:34:46Z</dcterms:created>
  <dcterms:modified xsi:type="dcterms:W3CDTF">2026-10-01T14:47:04Z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